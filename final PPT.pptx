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0" r:id="rId4"/>
    <p:sldId id="258" r:id="rId5"/>
    <p:sldId id="259" r:id="rId6"/>
    <p:sldId id="272" r:id="rId7"/>
    <p:sldId id="274" r:id="rId8"/>
    <p:sldId id="265" r:id="rId9"/>
    <p:sldId id="276" r:id="rId10"/>
    <p:sldId id="278" r:id="rId11"/>
    <p:sldId id="277" r:id="rId12"/>
    <p:sldId id="269" r:id="rId13"/>
  </p:sldIdLst>
  <p:sldSz cx="18288000" cy="10287000"/>
  <p:notesSz cx="6858000" cy="9144000"/>
  <p:embeddedFontLst>
    <p:embeddedFont>
      <p:font typeface="Lato Bold" panose="020B0604020202020204" charset="0"/>
      <p:regular r:id="rId15"/>
    </p:embeddedFont>
    <p:embeddedFont>
      <p:font typeface="League Spartan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033" autoAdjust="0"/>
  </p:normalViewPr>
  <p:slideViewPr>
    <p:cSldViewPr>
      <p:cViewPr>
        <p:scale>
          <a:sx n="56" d="100"/>
          <a:sy n="56" d="100"/>
        </p:scale>
        <p:origin x="6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3EC12-4D50-4552-859B-A98A2BA003A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AF8F9-F961-4044-8FF1-7281B1073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3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AF8F9-F961-4044-8FF1-7281B10730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0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86084" y="2475719"/>
            <a:ext cx="14354860" cy="682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45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1E0B9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Department of Electronics and Communication Engineering 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6451301" y="5665978"/>
            <a:ext cx="7286676" cy="457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140627" y="-2428"/>
            <a:ext cx="2147373" cy="2697656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alphaModFix amt="3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124494" y="246956"/>
            <a:ext cx="1491797" cy="1492952"/>
            <a:chOff x="0" y="0"/>
            <a:chExt cx="3673970" cy="3676815"/>
          </a:xfrm>
        </p:grpSpPr>
        <p:sp>
          <p:nvSpPr>
            <p:cNvPr id="12" name="Freeform 12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352208" y="599930"/>
            <a:ext cx="9220816" cy="50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37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1B2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MANAKULA VINAYAGAR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86084" y="1917593"/>
            <a:ext cx="7286676" cy="225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2400" spc="102" dirty="0">
                <a:solidFill>
                  <a:schemeClr val="accent6">
                    <a:lumMod val="75000"/>
                  </a:schemeClr>
                </a:solidFill>
                <a:latin typeface="Trajan Pro"/>
              </a:rPr>
              <a:t>(An Autonomous Institution)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86084" y="1283965"/>
            <a:ext cx="850112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0"/>
              </a:lnSpc>
              <a:spcBef>
                <a:spcPct val="0"/>
              </a:spcBef>
            </a:pPr>
            <a:r>
              <a:rPr lang="en-US" sz="4000" dirty="0">
                <a:solidFill>
                  <a:srgbClr val="1B277B"/>
                </a:solidFill>
                <a:latin typeface="Trajan Pro"/>
              </a:rPr>
              <a:t>ENGINEERING COLLEGE</a:t>
            </a:r>
          </a:p>
        </p:txBody>
      </p:sp>
      <p:sp>
        <p:nvSpPr>
          <p:cNvPr id="33" name="TextBox 10"/>
          <p:cNvSpPr txBox="1"/>
          <p:nvPr/>
        </p:nvSpPr>
        <p:spPr>
          <a:xfrm>
            <a:off x="8567936" y="6871692"/>
            <a:ext cx="6583633" cy="46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lang="en-US" sz="2713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Presented   by</a:t>
            </a:r>
          </a:p>
        </p:txBody>
      </p:sp>
      <p:sp>
        <p:nvSpPr>
          <p:cNvPr id="34" name="TextBox 22"/>
          <p:cNvSpPr txBox="1"/>
          <p:nvPr/>
        </p:nvSpPr>
        <p:spPr>
          <a:xfrm>
            <a:off x="8567936" y="7447756"/>
            <a:ext cx="4464050" cy="70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Menaga S (23UEC113)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Vasundaraa J N(23UEC209)</a:t>
            </a:r>
          </a:p>
        </p:txBody>
      </p:sp>
      <p:sp>
        <p:nvSpPr>
          <p:cNvPr id="35" name="TextBox 23"/>
          <p:cNvSpPr txBox="1"/>
          <p:nvPr/>
        </p:nvSpPr>
        <p:spPr>
          <a:xfrm>
            <a:off x="8537286" y="8194782"/>
            <a:ext cx="44640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GB" sz="20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III-A</a:t>
            </a:r>
            <a:endParaRPr lang="en-US" sz="20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23"/>
          <p:cNvSpPr txBox="1"/>
          <p:nvPr/>
        </p:nvSpPr>
        <p:spPr>
          <a:xfrm>
            <a:off x="8554661" y="8618859"/>
            <a:ext cx="44640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Department of ECE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3286084" y="1712888"/>
            <a:ext cx="6000792" cy="1588"/>
          </a:xfrm>
          <a:prstGeom prst="line">
            <a:avLst/>
          </a:prstGeom>
          <a:ln w="28575">
            <a:solidFill>
              <a:srgbClr val="1E0B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756266A-498C-32C9-C332-B70955634C74}"/>
              </a:ext>
            </a:extLst>
          </p:cNvPr>
          <p:cNvSpPr txBox="1"/>
          <p:nvPr/>
        </p:nvSpPr>
        <p:spPr>
          <a:xfrm>
            <a:off x="6364955" y="4353305"/>
            <a:ext cx="76035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solidFill>
                  <a:schemeClr val="accent6">
                    <a:lumMod val="75000"/>
                  </a:schemeClr>
                </a:solidFill>
              </a:rPr>
              <a:t>FINGERTIP TISSUE DEFORMABILITY BASED NON-INVASIVE ANEMIA DETECTION DEVICE </a:t>
            </a:r>
            <a:endParaRPr 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03000" y="815924"/>
            <a:ext cx="92582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Outline of the Presentation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V="1">
            <a:off x="928100" y="1780969"/>
            <a:ext cx="8433104" cy="6794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0155755-6848-008A-A70D-847454B03942}"/>
              </a:ext>
            </a:extLst>
          </p:cNvPr>
          <p:cNvSpPr txBox="1"/>
          <p:nvPr/>
        </p:nvSpPr>
        <p:spPr>
          <a:xfrm>
            <a:off x="1079104" y="2047371"/>
            <a:ext cx="6380694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Introduction about domain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Objective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Methodology/Design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Requirements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Workflow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4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400" dirty="0"/>
              <a:t>Expected Outcome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635" y="-904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5201900" y="-741727"/>
            <a:ext cx="3102423" cy="11119138"/>
            <a:chOff x="0" y="-195352"/>
            <a:chExt cx="817099" cy="2928497"/>
          </a:xfrm>
        </p:grpSpPr>
        <p:sp>
          <p:nvSpPr>
            <p:cNvPr id="4" name="Freeform 4"/>
            <p:cNvSpPr/>
            <p:nvPr/>
          </p:nvSpPr>
          <p:spPr>
            <a:xfrm>
              <a:off x="0" y="-195352"/>
              <a:ext cx="817099" cy="2928497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20" y="1494821"/>
            <a:ext cx="92582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Introduction about domain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V="1">
            <a:off x="1142944" y="2357417"/>
            <a:ext cx="7500990" cy="45719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6" name="Group 13"/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1044390" y="2839244"/>
            <a:ext cx="1285213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• Anemia is a common health issue affecting many people</a:t>
            </a:r>
            <a:br>
              <a:rPr lang="en-US" sz="4000" dirty="0"/>
            </a:br>
            <a:r>
              <a:rPr lang="en-US" sz="4000" dirty="0"/>
              <a:t>• Existing methods require invasive blood tests</a:t>
            </a:r>
            <a:br>
              <a:rPr lang="en-US" sz="4000" dirty="0"/>
            </a:br>
            <a:r>
              <a:rPr lang="en-US" sz="4000" dirty="0"/>
              <a:t>• Finger-prick tests cause pain and infection risk</a:t>
            </a:r>
            <a:br>
              <a:rPr lang="en-US" sz="4000" dirty="0"/>
            </a:br>
            <a:r>
              <a:rPr lang="en-US" sz="4000" dirty="0"/>
              <a:t>• Laboratory testing is time-consuming and costly</a:t>
            </a:r>
            <a:br>
              <a:rPr lang="en-US" sz="4000" dirty="0"/>
            </a:br>
            <a:r>
              <a:rPr lang="en-US" sz="4000" dirty="0"/>
              <a:t>• Rural areas lack quick anemia detection facilities</a:t>
            </a:r>
            <a:br>
              <a:rPr lang="en-US" sz="4000" dirty="0"/>
            </a:br>
            <a:r>
              <a:rPr lang="en-US" sz="4000" dirty="0"/>
              <a:t>• Non-invasive screening is highly needed</a:t>
            </a:r>
            <a:br>
              <a:rPr lang="en-US" sz="4000" dirty="0"/>
            </a:br>
            <a:r>
              <a:rPr lang="en-US" sz="4000" dirty="0"/>
              <a:t>• Portable and low-cost healthcare solutions are important</a:t>
            </a:r>
            <a:br>
              <a:rPr lang="en-US" sz="4000" dirty="0"/>
            </a:br>
            <a:r>
              <a:rPr lang="en-US" sz="4000" dirty="0"/>
              <a:t>• Embedded and sensor-based systems enable real-time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778" y="-128552"/>
            <a:ext cx="9499600" cy="10544101"/>
            <a:chOff x="0" y="0"/>
            <a:chExt cx="250195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952" cy="2709333"/>
            </a:xfrm>
            <a:custGeom>
              <a:avLst/>
              <a:gdLst/>
              <a:ahLst/>
              <a:cxnLst/>
              <a:rect l="l" t="t" r="r" b="b"/>
              <a:pathLst>
                <a:path w="2501952" h="2709333">
                  <a:moveTo>
                    <a:pt x="0" y="0"/>
                  </a:moveTo>
                  <a:lnTo>
                    <a:pt x="2501952" y="0"/>
                  </a:lnTo>
                  <a:lnTo>
                    <a:pt x="25019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195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20" y="1513871"/>
            <a:ext cx="6417963" cy="74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298" dirty="0">
                <a:solidFill>
                  <a:srgbClr val="FFFFFF"/>
                </a:solidFill>
                <a:latin typeface="League Spartan"/>
              </a:rPr>
              <a:t>Problem Statement </a:t>
            </a:r>
            <a:endParaRPr lang="en-US" sz="4298" dirty="0">
              <a:solidFill>
                <a:srgbClr val="FFFFFF"/>
              </a:solidFill>
              <a:latin typeface="League Spartan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1029792" y="2233059"/>
            <a:ext cx="5761990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FFFFFF"/>
                </a:solidFill>
                <a:latin typeface="Lato Bold"/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080" y="2477766"/>
            <a:ext cx="777686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• Finger-prick tests cause pain and infection risk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• Hospital CBC tests are costly and time-consuming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• No affordable portable devices available under ₹1000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• Rural PHCs lack instant anemia screening tools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• High prevalence of anemia among pregnant women (NFHS-5)</a:t>
            </a:r>
            <a:br>
              <a:rPr lang="en-US" sz="3600" dirty="0">
                <a:solidFill>
                  <a:schemeClr val="bg1"/>
                </a:solidFill>
              </a:rPr>
            </a:br>
            <a:r>
              <a:rPr lang="en-US" sz="3600" dirty="0">
                <a:solidFill>
                  <a:schemeClr val="bg1"/>
                </a:solidFill>
              </a:rPr>
              <a:t>• Traditional methods depend on laboratory equipment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F9841B-52E6-17A9-41C5-10FDCD3A9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10152112" y="1117615"/>
            <a:ext cx="7394128" cy="80728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000000"/>
                </a:solidFill>
                <a:latin typeface="Lato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8629" y="1417607"/>
            <a:ext cx="6968591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298" dirty="0">
                <a:solidFill>
                  <a:srgbClr val="1B277B"/>
                </a:solidFill>
                <a:latin typeface="League Spartan"/>
              </a:rPr>
              <a:t>Objective</a:t>
            </a:r>
            <a:endParaRPr lang="en-US" sz="4298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5" name="AutoShape 5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AutoShape 6"/>
          <p:cNvSpPr/>
          <p:nvPr/>
        </p:nvSpPr>
        <p:spPr>
          <a:xfrm>
            <a:off x="928630" y="2357418"/>
            <a:ext cx="26187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810500" y="0"/>
            <a:ext cx="3086100" cy="10287000"/>
            <a:chOff x="0" y="0"/>
            <a:chExt cx="812800" cy="2709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398102" y="335124"/>
            <a:ext cx="1491797" cy="1492952"/>
            <a:chOff x="0" y="0"/>
            <a:chExt cx="3673970" cy="3676815"/>
          </a:xfrm>
        </p:grpSpPr>
        <p:sp>
          <p:nvSpPr>
            <p:cNvPr id="19" name="Freeform 19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28564" y="2857484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28564" y="2631528"/>
            <a:ext cx="738193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• To develop a non-invasive system for anemia detection</a:t>
            </a:r>
            <a:br>
              <a:rPr lang="en-US" sz="3000" dirty="0"/>
            </a:br>
            <a:r>
              <a:rPr lang="en-US" sz="3000" dirty="0"/>
              <a:t>• To measure physiological parameters like BPM and SpO₂</a:t>
            </a:r>
            <a:br>
              <a:rPr lang="en-US" sz="3000" dirty="0"/>
            </a:br>
            <a:r>
              <a:rPr lang="en-US" sz="3000" dirty="0"/>
              <a:t>• To incorporate load sensor for controlled pressure measurement</a:t>
            </a:r>
            <a:br>
              <a:rPr lang="en-US" sz="3000" dirty="0"/>
            </a:br>
            <a:r>
              <a:rPr lang="en-US" sz="3000" dirty="0"/>
              <a:t>• To design an Arduino-based embedded system for data processing</a:t>
            </a:r>
            <a:br>
              <a:rPr lang="en-US" sz="3000" dirty="0"/>
            </a:br>
            <a:r>
              <a:rPr lang="en-US" sz="3000" dirty="0"/>
              <a:t>• To display real-time results using LCD</a:t>
            </a:r>
            <a:br>
              <a:rPr lang="en-US" sz="3000" dirty="0"/>
            </a:br>
            <a:r>
              <a:rPr lang="en-US" sz="3000" dirty="0"/>
              <a:t>• To provide alert indication using LED and buzzer</a:t>
            </a:r>
            <a:br>
              <a:rPr lang="en-US" sz="3000" dirty="0"/>
            </a:br>
            <a:r>
              <a:rPr lang="en-US" sz="3000" dirty="0"/>
              <a:t>• To create a low-cost and portable healthcare device</a:t>
            </a:r>
            <a:endParaRPr lang="en-IN" sz="3000" dirty="0"/>
          </a:p>
          <a:p>
            <a:endParaRPr lang="en-IN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D05690-39D3-7EF2-AFC1-7987EF3C6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68"/>
          <a:stretch>
            <a:fillRect/>
          </a:stretch>
        </p:blipFill>
        <p:spPr>
          <a:xfrm>
            <a:off x="10990814" y="1255101"/>
            <a:ext cx="7100021" cy="77778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3080" y="497238"/>
            <a:ext cx="135878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Methodology / Design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6" name="Group 13"/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AutoShape 10"/>
          <p:cNvSpPr/>
          <p:nvPr/>
        </p:nvSpPr>
        <p:spPr>
          <a:xfrm flipV="1">
            <a:off x="764558" y="1324479"/>
            <a:ext cx="13041616" cy="6794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2D25F6-F42D-D3E8-A503-773949F35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1"/>
          <a:stretch>
            <a:fillRect/>
          </a:stretch>
        </p:blipFill>
        <p:spPr>
          <a:xfrm>
            <a:off x="236746" y="1544897"/>
            <a:ext cx="14653840" cy="83867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65410" y="415655"/>
            <a:ext cx="135878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Methodology / Design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6" name="Group 13"/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AutoShape 10"/>
          <p:cNvSpPr/>
          <p:nvPr/>
        </p:nvSpPr>
        <p:spPr>
          <a:xfrm flipV="1">
            <a:off x="822878" y="1287611"/>
            <a:ext cx="13041616" cy="6794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878" y="1600751"/>
            <a:ext cx="12822742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dirty="0"/>
              <a:t>• Pulse sensor measures BPM and SpO₂ using sensor</a:t>
            </a:r>
            <a:br>
              <a:rPr lang="en-IN" sz="3600" dirty="0"/>
            </a:br>
            <a:r>
              <a:rPr lang="en-IN" sz="3600" dirty="0"/>
              <a:t>• Pulse sensor measures applied finger pressure</a:t>
            </a:r>
            <a:br>
              <a:rPr lang="en-IN" sz="3600" dirty="0"/>
            </a:br>
            <a:r>
              <a:rPr lang="en-IN" sz="3600" dirty="0"/>
              <a:t>• HX711 converts </a:t>
            </a:r>
            <a:r>
              <a:rPr lang="en-IN" sz="3600" dirty="0" err="1"/>
              <a:t>analog</a:t>
            </a:r>
            <a:r>
              <a:rPr lang="en-IN" sz="3600" dirty="0"/>
              <a:t> signal to digital data</a:t>
            </a:r>
            <a:br>
              <a:rPr lang="en-IN" sz="3600" dirty="0"/>
            </a:br>
            <a:r>
              <a:rPr lang="en-IN" sz="3600" dirty="0"/>
              <a:t>• Arduino processes data with filtering</a:t>
            </a:r>
            <a:br>
              <a:rPr lang="en-IN" sz="3600" dirty="0"/>
            </a:br>
            <a:r>
              <a:rPr lang="en-IN" sz="3600" dirty="0"/>
              <a:t>• Baseline and pressure signals are compared</a:t>
            </a:r>
          </a:p>
          <a:p>
            <a:r>
              <a:rPr lang="en-IN" sz="3600" dirty="0"/>
              <a:t>• Detection:</a:t>
            </a:r>
            <a:br>
              <a:rPr lang="en-IN" sz="3600" dirty="0"/>
            </a:br>
            <a:r>
              <a:rPr lang="en-IN" sz="3600" dirty="0"/>
              <a:t>    ▪ Normal: Stable value</a:t>
            </a:r>
            <a:br>
              <a:rPr lang="en-IN" sz="3600" dirty="0"/>
            </a:br>
            <a:r>
              <a:rPr lang="en-IN" sz="3600" dirty="0"/>
              <a:t>    ▪ </a:t>
            </a:r>
            <a:r>
              <a:rPr lang="en-IN" sz="3600" dirty="0" err="1"/>
              <a:t>Anemia</a:t>
            </a:r>
            <a:r>
              <a:rPr lang="en-IN" sz="3600" dirty="0"/>
              <a:t>: High variation</a:t>
            </a:r>
          </a:p>
          <a:p>
            <a:r>
              <a:rPr lang="en-IN" sz="3600" b="1" dirty="0"/>
              <a:t>Example:</a:t>
            </a:r>
            <a:br>
              <a:rPr lang="en-IN" sz="3600" dirty="0"/>
            </a:br>
            <a:r>
              <a:rPr lang="en-IN" sz="3600" dirty="0"/>
              <a:t>Sp02= 30, BPM= 40,Load cell = below 40 → Variation → </a:t>
            </a:r>
            <a:r>
              <a:rPr lang="en-IN" sz="3600" dirty="0" err="1"/>
              <a:t>Anemia</a:t>
            </a:r>
            <a:r>
              <a:rPr lang="en-IN" sz="3600" dirty="0"/>
              <a:t> detected</a:t>
            </a:r>
          </a:p>
          <a:p>
            <a:r>
              <a:rPr lang="en-IN" sz="3600" dirty="0"/>
              <a:t>• LCD displays results in real time</a:t>
            </a:r>
            <a:br>
              <a:rPr lang="en-IN" sz="3600" dirty="0"/>
            </a:br>
            <a:r>
              <a:rPr lang="en-IN" sz="3600" dirty="0"/>
              <a:t>• LED &amp; buzzer give alert for abnormal values</a:t>
            </a:r>
            <a:br>
              <a:rPr lang="en-IN" sz="3600" dirty="0"/>
            </a:br>
            <a:r>
              <a:rPr lang="en-IN" sz="3600" dirty="0"/>
              <a:t>• Low-cost, portable, non-invasive system</a:t>
            </a:r>
          </a:p>
          <a:p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20312" r="-2031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30019" y="4922828"/>
            <a:ext cx="5771913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 dirty="0">
                <a:solidFill>
                  <a:srgbClr val="1B277B"/>
                </a:solidFill>
                <a:latin typeface="League Spartan"/>
              </a:rPr>
              <a:t>Requirements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565023" y="5692269"/>
            <a:ext cx="3865294" cy="26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5676900" y="0"/>
            <a:ext cx="3086100" cy="10287000"/>
            <a:chOff x="0" y="0"/>
            <a:chExt cx="81280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8104" y="606996"/>
            <a:ext cx="1029057" cy="102905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18105" y="5373112"/>
            <a:ext cx="1029057" cy="102905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16208" y="751012"/>
            <a:ext cx="6048671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/>
              <a:t>HARDWARE REQUIREMENT</a:t>
            </a:r>
          </a:p>
          <a:p>
            <a:r>
              <a:rPr lang="en-IN" sz="3200" dirty="0"/>
              <a:t>• </a:t>
            </a:r>
            <a:r>
              <a:rPr lang="en-IN" sz="3000" dirty="0"/>
              <a:t>Arduino Uno microcontroller</a:t>
            </a:r>
            <a:br>
              <a:rPr lang="en-IN" sz="3000" dirty="0"/>
            </a:br>
            <a:r>
              <a:rPr lang="en-IN" sz="3000" dirty="0"/>
              <a:t>• Pulse sensor (BPM &amp; SpO₂ measurement)</a:t>
            </a:r>
            <a:br>
              <a:rPr lang="en-IN" sz="3000" dirty="0"/>
            </a:br>
            <a:r>
              <a:rPr lang="en-IN" sz="3000" dirty="0"/>
              <a:t>• 5kg Load Cell sensor</a:t>
            </a:r>
            <a:br>
              <a:rPr lang="en-IN" sz="3000" dirty="0"/>
            </a:br>
            <a:r>
              <a:rPr lang="en-IN" sz="3000" dirty="0"/>
              <a:t>• HX711 amplifier module</a:t>
            </a:r>
            <a:br>
              <a:rPr lang="en-IN" sz="3000" dirty="0"/>
            </a:br>
            <a:r>
              <a:rPr lang="en-IN" sz="3000" dirty="0"/>
              <a:t>• 16×2 LCD display (I2C)</a:t>
            </a:r>
            <a:br>
              <a:rPr lang="en-IN" sz="3000" dirty="0"/>
            </a:br>
            <a:r>
              <a:rPr lang="en-IN" sz="3000" dirty="0"/>
              <a:t>• Buzzer for alerts</a:t>
            </a:r>
            <a:br>
              <a:rPr lang="en-IN" sz="3000" dirty="0"/>
            </a:br>
            <a:r>
              <a:rPr lang="en-IN" sz="3000" dirty="0"/>
              <a:t>• LED indicators</a:t>
            </a:r>
            <a:br>
              <a:rPr lang="en-IN" sz="3000" dirty="0"/>
            </a:br>
            <a:endParaRPr lang="en-IN" sz="3000" dirty="0"/>
          </a:p>
        </p:txBody>
      </p:sp>
      <p:sp>
        <p:nvSpPr>
          <p:cNvPr id="23" name="TextBox 21"/>
          <p:cNvSpPr txBox="1"/>
          <p:nvPr/>
        </p:nvSpPr>
        <p:spPr>
          <a:xfrm>
            <a:off x="11016208" y="5343988"/>
            <a:ext cx="5328592" cy="3513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8"/>
              </a:lnSpc>
              <a:spcBef>
                <a:spcPct val="0"/>
              </a:spcBef>
            </a:pPr>
            <a:endParaRPr lang="en-US" sz="3400" b="1" dirty="0">
              <a:latin typeface="+mj-lt"/>
            </a:endParaRPr>
          </a:p>
          <a:p>
            <a:pPr>
              <a:lnSpc>
                <a:spcPts val="2948"/>
              </a:lnSpc>
              <a:spcBef>
                <a:spcPct val="0"/>
              </a:spcBef>
            </a:pPr>
            <a:r>
              <a:rPr lang="en-US" sz="3400" b="1" dirty="0">
                <a:latin typeface="+mj-lt"/>
              </a:rPr>
              <a:t>SOFTWARE  REQUIREMENT</a:t>
            </a:r>
          </a:p>
          <a:p>
            <a:r>
              <a:rPr lang="en-US" sz="3200" b="1" dirty="0"/>
              <a:t>• </a:t>
            </a:r>
            <a:r>
              <a:rPr lang="en-US" sz="3200" dirty="0"/>
              <a:t>Arduino IDE</a:t>
            </a:r>
          </a:p>
          <a:p>
            <a:r>
              <a:rPr lang="en-US" sz="3200" dirty="0"/>
              <a:t>• HX711 library</a:t>
            </a:r>
          </a:p>
          <a:p>
            <a:r>
              <a:rPr lang="en-US" sz="3200" dirty="0"/>
              <a:t>• </a:t>
            </a:r>
            <a:r>
              <a:rPr lang="en-US" sz="3200" dirty="0" err="1"/>
              <a:t>LiquidCrystal</a:t>
            </a:r>
            <a:r>
              <a:rPr lang="en-US" sz="3200" dirty="0"/>
              <a:t> I2C library</a:t>
            </a:r>
          </a:p>
          <a:p>
            <a:r>
              <a:rPr lang="en-US" sz="3200" dirty="0"/>
              <a:t>• Embedded C programming</a:t>
            </a:r>
          </a:p>
          <a:p>
            <a:endParaRPr lang="en-IN" sz="2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05342" y="182565"/>
            <a:ext cx="135878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Work flow of your mini project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V="1">
            <a:off x="1080142" y="1030563"/>
            <a:ext cx="13041616" cy="6794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6" name="Group 13"/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9E60C68-70D6-7C65-4510-82D88D618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55" b="7301"/>
          <a:stretch>
            <a:fillRect/>
          </a:stretch>
        </p:blipFill>
        <p:spPr>
          <a:xfrm>
            <a:off x="5052137" y="1098511"/>
            <a:ext cx="7282783" cy="91884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77A0A-2D9F-1CE6-5D0E-950E15D6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75ED12F-AD0D-2E83-CC7B-6A5021CBFDDC}"/>
              </a:ext>
            </a:extLst>
          </p:cNvPr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C940F1D-ECD7-DC40-0228-8DE5737E5E67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1363CFF-1F46-316F-9D26-ECAC166751F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657CEEED-E3DE-5D01-184E-EB4CD0F90F4F}"/>
              </a:ext>
            </a:extLst>
          </p:cNvPr>
          <p:cNvSpPr txBox="1"/>
          <p:nvPr/>
        </p:nvSpPr>
        <p:spPr>
          <a:xfrm>
            <a:off x="1105342" y="182565"/>
            <a:ext cx="135878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Working of the project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E507366D-F93A-1472-4C5A-1916E5110085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B575F11-9080-0F37-FE56-61BA6B18864E}"/>
              </a:ext>
            </a:extLst>
          </p:cNvPr>
          <p:cNvSpPr/>
          <p:nvPr/>
        </p:nvSpPr>
        <p:spPr>
          <a:xfrm flipV="1">
            <a:off x="1080142" y="1030563"/>
            <a:ext cx="13041616" cy="6794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id="{98D49708-56CA-0EF3-6AEF-D581E7996F56}"/>
              </a:ext>
            </a:extLst>
          </p:cNvPr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9FEA2C-CFF3-0493-A73B-55A9B0A3F6C5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78C9F7A-3F48-74A1-5BA5-5AA1D95A3016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B1C6A0B-8556-F862-7C4D-8AE60EE4E60A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75EB179-1F2B-CE06-63A3-1F2061B9E4A9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40D54A3-F633-21B6-48AE-4D9041A23128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EBF616F-D152-DEDD-BA60-1CF0185059FC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6F07B89-F4B5-5440-AB2C-6A2896C87E96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BB213A2-5455-1A4F-90A5-4EDE0E69775F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697E119-DB35-8141-BD74-9921FB22195D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" name="WhatsApp Video 2026-04-12 at 22.48.28">
            <a:hlinkClick r:id="" action="ppaction://media"/>
            <a:extLst>
              <a:ext uri="{FF2B5EF4-FFF2-40B4-BE49-F238E27FC236}">
                <a16:creationId xmlns:a16="http://schemas.microsoft.com/office/drawing/2014/main" id="{D44B8BF6-6462-4FBA-7301-4EB9F0FB2D8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08662" y="1088035"/>
            <a:ext cx="5791522" cy="92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9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20" y="1399084"/>
            <a:ext cx="13587888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dirty="0">
                <a:solidFill>
                  <a:srgbClr val="1B277B"/>
                </a:solidFill>
                <a:latin typeface="League Spartan"/>
              </a:rPr>
              <a:t>Expected Outcome</a:t>
            </a:r>
            <a:endParaRPr lang="en-US" sz="4800" dirty="0">
              <a:solidFill>
                <a:srgbClr val="1B277B"/>
              </a:solidFill>
              <a:latin typeface="League Spartan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V="1">
            <a:off x="1005262" y="2255361"/>
            <a:ext cx="13041616" cy="6794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6" name="Group 13"/>
          <p:cNvGrpSpPr>
            <a:grpSpLocks noChangeAspect="1"/>
          </p:cNvGrpSpPr>
          <p:nvPr/>
        </p:nvGrpSpPr>
        <p:grpSpPr>
          <a:xfrm>
            <a:off x="15999052" y="413850"/>
            <a:ext cx="1491797" cy="1492952"/>
            <a:chOff x="0" y="0"/>
            <a:chExt cx="3673970" cy="3676815"/>
          </a:xfrm>
        </p:grpSpPr>
        <p:sp>
          <p:nvSpPr>
            <p:cNvPr id="14" name="Freeform 14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1295128" y="2835184"/>
            <a:ext cx="12313368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00" dirty="0"/>
              <a:t>• Accurate measurement of BPM and SpO₂ values</a:t>
            </a:r>
            <a:br>
              <a:rPr lang="en-US" sz="3500" dirty="0"/>
            </a:br>
            <a:r>
              <a:rPr lang="en-US" sz="3500" dirty="0"/>
              <a:t>• Reliable detection of applied finger pressure using load cell</a:t>
            </a:r>
            <a:br>
              <a:rPr lang="en-US" sz="3500" dirty="0"/>
            </a:br>
            <a:r>
              <a:rPr lang="en-US" sz="3500" dirty="0"/>
              <a:t>• Stable and noise-free signal processing</a:t>
            </a:r>
            <a:br>
              <a:rPr lang="en-US" sz="3500" dirty="0"/>
            </a:br>
            <a:r>
              <a:rPr lang="en-US" sz="3500" dirty="0"/>
              <a:t>• Real-time display of results on LCD</a:t>
            </a:r>
            <a:br>
              <a:rPr lang="en-US" sz="3500" dirty="0"/>
            </a:br>
            <a:r>
              <a:rPr lang="en-US" sz="3500" dirty="0"/>
              <a:t>• Identification of normal and abnormal conditions</a:t>
            </a:r>
            <a:br>
              <a:rPr lang="en-US" sz="3500" dirty="0"/>
            </a:br>
            <a:r>
              <a:rPr lang="en-US" sz="3500" dirty="0"/>
              <a:t>• Alert indication using LED and buzzer for abnormal readings</a:t>
            </a:r>
            <a:br>
              <a:rPr lang="en-US" sz="3500" dirty="0"/>
            </a:br>
            <a:r>
              <a:rPr lang="en-US" sz="3500" dirty="0"/>
              <a:t>• Improved measurement accuracy using combined optical and pressure sensing</a:t>
            </a:r>
            <a:br>
              <a:rPr lang="en-US" sz="3500" dirty="0"/>
            </a:br>
            <a:r>
              <a:rPr lang="en-US" sz="3500" dirty="0"/>
              <a:t>• Low-cost, portable, and easy-to-use system</a:t>
            </a:r>
            <a:br>
              <a:rPr lang="en-US" sz="3500" dirty="0"/>
            </a:br>
            <a:r>
              <a:rPr lang="en-US" sz="3500" dirty="0"/>
              <a:t>• Useful for preliminary non-invasive anemia </a:t>
            </a:r>
            <a:r>
              <a:rPr lang="en-US" sz="3500" dirty="0" err="1"/>
              <a:t>screenin</a:t>
            </a:r>
            <a:endParaRPr lang="en-US" sz="3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5786442"/>
            <a:ext cx="18288000" cy="5143500"/>
            <a:chOff x="0" y="0"/>
            <a:chExt cx="4816593" cy="13546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72169" y="4411286"/>
            <a:ext cx="10143658" cy="137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 dirty="0">
                <a:solidFill>
                  <a:srgbClr val="1B277B"/>
                </a:solidFill>
                <a:latin typeface="League Spartan"/>
              </a:rPr>
              <a:t>THANK YOU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5786442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533</Words>
  <Application>Microsoft Office PowerPoint</Application>
  <PresentationFormat>Custom</PresentationFormat>
  <Paragraphs>53</Paragraphs>
  <Slides>12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League Spartan</vt:lpstr>
      <vt:lpstr>Wingdings</vt:lpstr>
      <vt:lpstr>Calibri</vt:lpstr>
      <vt:lpstr>Arial</vt:lpstr>
      <vt:lpstr>Trajan Pro</vt:lpstr>
      <vt:lpstr>Poppins</vt:lpstr>
      <vt:lpstr>Times New Roman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Slides</dc:title>
  <dc:creator>Sruthi Raja</dc:creator>
  <cp:lastModifiedBy>Vasundaraa Janarthanan</cp:lastModifiedBy>
  <cp:revision>28</cp:revision>
  <dcterms:created xsi:type="dcterms:W3CDTF">2006-08-16T00:00:00Z</dcterms:created>
  <dcterms:modified xsi:type="dcterms:W3CDTF">2026-04-12T18:46:02Z</dcterms:modified>
  <dc:identifier>DAGGzy2FjoY</dc:identifier>
</cp:coreProperties>
</file>